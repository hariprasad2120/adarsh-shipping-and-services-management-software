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Estimated Cost (₹ Lakhs)</c:v>
                </c:pt>
              </c:strCache>
            </c:strRef>
          </c:tx>
          <c:spPr>
            <a:solidFill/>
          </c:spPr>
          <c:invertIfNegative val="1"/>
          <c:dPt>
            <c:idx val="0"/>
            <c:invertIfNegative val="1"/>
            <c:bubble3D val="0"/>
            <c:spPr>
              <a:solidFill>
                <a:srgbClr val="B04A3A"/>
              </a:solidFill>
            </c:spPr>
            <c:extLst>
              <c:ext xmlns:c16="http://schemas.microsoft.com/office/drawing/2014/chart" uri="{C3380CC4-5D6E-409C-BE32-E72D297353CC}">
                <c16:uniqueId val="{00000001-492D-4622-985D-7E93859007F6}"/>
              </c:ext>
            </c:extLst>
          </c:dPt>
          <c:dPt>
            <c:idx val="1"/>
            <c:invertIfNegative val="1"/>
            <c:bubble3D val="0"/>
            <c:spPr>
              <a:solidFill>
                <a:srgbClr val="D9A42B"/>
              </a:solidFill>
            </c:spPr>
            <c:extLst>
              <c:ext xmlns:c16="http://schemas.microsoft.com/office/drawing/2014/chart" uri="{C3380CC4-5D6E-409C-BE32-E72D297353CC}">
                <c16:uniqueId val="{00000003-492D-4622-985D-7E93859007F6}"/>
              </c:ext>
            </c:extLst>
          </c:dPt>
          <c:dLbls>
            <c:numFmt formatCode="&quot;₹&quot;0.0&quot;L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142850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Market Vendor
(Full Implementation)</c:v>
                </c:pt>
                <c:pt idx="1">
                  <c:v>Adarsh In-House
(This Proposal)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12.5</c:v>
                </c:pt>
                <c:pt idx="1">
                  <c:v>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92D-4622-985D-7E93859007F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2B2B2B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3rd-Party Subscription Cost</c:v>
                </c:pt>
              </c:strCache>
            </c:strRef>
          </c:tx>
          <c:spPr>
            <a:ln w="31750">
              <a:solidFill>
                <a:srgbClr val="B04A3A"/>
              </a:solidFill>
            </a:ln>
          </c:spPr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8</c:v>
                </c:pt>
                <c:pt idx="4">
                  <c:v>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647-4352-8626-E3F85540CE7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Cumulative In-House Cost (incl. AMC)</c:v>
                </c:pt>
              </c:strCache>
            </c:strRef>
          </c:tx>
          <c:spPr>
            <a:ln w="31750">
              <a:solidFill>
                <a:srgbClr val="D9A42B"/>
              </a:solidFill>
            </a:ln>
          </c:spPr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5.6</c:v>
                </c:pt>
                <c:pt idx="1">
                  <c:v>6.05</c:v>
                </c:pt>
                <c:pt idx="2">
                  <c:v>6.5</c:v>
                </c:pt>
                <c:pt idx="3">
                  <c:v>6.95</c:v>
                </c:pt>
                <c:pt idx="4">
                  <c:v>7.4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647-4352-8626-E3F85540CE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5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&quot;₹&quot;0&quot;L&quot;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8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D9A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265615" y="0"/>
            <a:ext cx="2926080" cy="6858000"/>
          </a:xfrm>
          <a:prstGeom prst="rect">
            <a:avLst/>
          </a:prstGeom>
          <a:solidFill>
            <a:srgbClr val="2A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265615" y="0"/>
            <a:ext cx="38100" cy="6858000"/>
          </a:xfrm>
          <a:prstGeom prst="rect">
            <a:avLst/>
          </a:prstGeom>
          <a:solidFill>
            <a:srgbClr val="D9A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9A42B"/>
                </a:solidFill>
                <a:latin typeface="Segoe UI"/>
              </a:rPr>
              <a:t>BUSINESS CASE  •  IN-HOUSE PLATFORM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804672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600" b="1" i="0">
                <a:solidFill>
                  <a:srgbClr val="FFFFFF"/>
                </a:solidFill>
                <a:latin typeface="Segoe UI Semibold"/>
              </a:rPr>
              <a:t>One Platform.</a:t>
            </a:r>
          </a:p>
          <a:p>
            <a:pPr algn="l">
              <a:lnSpc>
                <a:spcPct val="102000"/>
              </a:lnSpc>
            </a:pPr>
            <a:r>
              <a:rPr sz="4600" b="1" i="0">
                <a:solidFill>
                  <a:srgbClr val="FFFFFF"/>
                </a:solidFill>
                <a:latin typeface="Segoe UI Semibold"/>
              </a:rPr>
              <a:t>One-Third the Cost.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7589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D8DEE8"/>
                </a:solidFill>
                <a:latin typeface="Segoe UI"/>
              </a:rPr>
              <a:t>Replacing Zoho People, Zoho Payroll, Google Sheets and Google Spaces with a single,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D8DEE8"/>
                </a:solidFill>
                <a:latin typeface="Segoe UI"/>
              </a:rPr>
              <a:t>fully-owned system — built for less than half the cost of any market vendor.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893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9C2D4"/>
                </a:solidFill>
                <a:latin typeface="Segoe UI"/>
              </a:rPr>
              <a:t>Prepared for the Management Committee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2636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9C2D4"/>
                </a:solidFill>
                <a:latin typeface="Segoe UI"/>
              </a:rPr>
              <a:t>Adarsh Shipping &amp; Services Management Software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8495" y="2651760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D9A42B"/>
                </a:solidFill>
                <a:latin typeface="Segoe UI Semibold"/>
              </a:rPr>
              <a:t>₹5.6L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48495" y="34290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TOTAL PROPOSED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3977639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1">
                <a:solidFill>
                  <a:srgbClr val="B9C2D4"/>
                </a:solidFill>
                <a:latin typeface="Segoe UI"/>
              </a:rPr>
              <a:t>vs ₹10L–15L market quote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9A42B"/>
                </a:solidFill>
                <a:latin typeface="Segoe UI"/>
              </a:rP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2850"/>
                </a:solidFill>
                <a:latin typeface="Segoe UI Semibold"/>
              </a:rPr>
              <a:t>We're Running the Business on Four Disconnected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822960" cy="38100"/>
          </a:xfrm>
          <a:prstGeom prst="rect">
            <a:avLst/>
          </a:prstGeom>
          <a:solidFill>
            <a:srgbClr val="D9A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600200"/>
          <a:ext cx="55778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 Semibold"/>
                        </a:rPr>
                        <a:t>Function</a:t>
                      </a:r>
                    </a:p>
                  </a:txBody>
                  <a:tcPr marL="101600" marR="101600" marT="50800" marB="50800" anchor="ctr"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 Semibold"/>
                        </a:rPr>
                        <a:t>Current Platform</a:t>
                      </a:r>
                    </a:p>
                  </a:txBody>
                  <a:tcPr marL="101600" marR="101600" marT="50800" marB="50800" anchor="ctr">
                    <a:solidFill>
                      <a:srgbClr val="1428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Segoe UI"/>
                        </a:rPr>
                        <a:t>HR &amp; Attendance Management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Segoe UI"/>
                        </a:rPr>
                        <a:t>Zoho People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Segoe UI"/>
                        </a:rPr>
                        <a:t>Payroll, Salary &amp; Loan Management</a:t>
                      </a:r>
                    </a:p>
                  </a:txBody>
                  <a:tcPr marL="101600" marR="101600" marT="38100" marB="38100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Segoe UI"/>
                        </a:rPr>
                        <a:t>Zoho Payroll</a:t>
                      </a:r>
                    </a:p>
                  </a:txBody>
                  <a:tcPr marL="101600" marR="101600" marT="38100" marB="38100" anchor="ctr">
                    <a:solidFill>
                      <a:srgbClr val="FA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Segoe UI"/>
                        </a:rPr>
                        <a:t>Database Management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Segoe UI"/>
                        </a:rPr>
                        <a:t>Google Sheets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Segoe UI"/>
                        </a:rPr>
                        <a:t>Internal Communication &amp; Job Groups</a:t>
                      </a:r>
                    </a:p>
                  </a:txBody>
                  <a:tcPr marL="101600" marR="101600" marT="38100" marB="38100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Segoe UI"/>
                        </a:rPr>
                        <a:t>Google Spaces</a:t>
                      </a:r>
                    </a:p>
                  </a:txBody>
                  <a:tcPr marL="101600" marR="101600" marT="38100" marB="38100" anchor="ctr">
                    <a:solidFill>
                      <a:srgbClr val="FA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37960" y="1600200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2850"/>
                </a:solidFill>
                <a:latin typeface="Segoe UI Semibold"/>
              </a:rPr>
              <a:t>What this costs 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2057400"/>
            <a:ext cx="5074920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 b="1">
                <a:solidFill>
                  <a:srgbClr val="D9A42B"/>
                </a:solidFill>
                <a:latin typeface="Segoe UI"/>
              </a:rPr>
              <a:t>▪  </a:t>
            </a:r>
            <a:r>
              <a:rPr sz="1300">
                <a:solidFill>
                  <a:srgbClr val="2B2B2B"/>
                </a:solidFill>
                <a:latin typeface="Segoe UI"/>
              </a:rPr>
              <a:t>Recurring subscription fees on every platform, every year — indefinitely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 b="1">
                <a:solidFill>
                  <a:srgbClr val="D9A42B"/>
                </a:solidFill>
                <a:latin typeface="Segoe UI"/>
              </a:rPr>
              <a:t>▪  </a:t>
            </a:r>
            <a:r>
              <a:rPr sz="1300">
                <a:solidFill>
                  <a:srgbClr val="2B2B2B"/>
                </a:solidFill>
                <a:latin typeface="Segoe UI"/>
              </a:rPr>
              <a:t>Zero customization: workflows are forced to fit someone else's product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 b="1">
                <a:solidFill>
                  <a:srgbClr val="D9A42B"/>
                </a:solidFill>
                <a:latin typeface="Segoe UI"/>
              </a:rPr>
              <a:t>▪  </a:t>
            </a:r>
            <a:r>
              <a:rPr sz="1300">
                <a:solidFill>
                  <a:srgbClr val="2B2B2B"/>
                </a:solidFill>
                <a:latin typeface="Segoe UI"/>
              </a:rPr>
              <a:t>No data bridge between systems — the same information is typed in twice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 b="1">
                <a:solidFill>
                  <a:srgbClr val="D9A42B"/>
                </a:solidFill>
                <a:latin typeface="Segoe UI"/>
              </a:rPr>
              <a:t>▪  </a:t>
            </a:r>
            <a:r>
              <a:rPr sz="1300">
                <a:solidFill>
                  <a:srgbClr val="2B2B2B"/>
                </a:solidFill>
                <a:latin typeface="Segoe UI"/>
              </a:rPr>
              <a:t>No single view of the business; leadership stitches reports together manually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00" b="1">
                <a:solidFill>
                  <a:srgbClr val="D9A42B"/>
                </a:solidFill>
                <a:latin typeface="Segoe UI"/>
              </a:rPr>
              <a:t>▪  </a:t>
            </a:r>
            <a:r>
              <a:rPr sz="1300">
                <a:solidFill>
                  <a:srgbClr val="2B2B2B"/>
                </a:solidFill>
                <a:latin typeface="Segoe UI"/>
              </a:rPr>
              <a:t>Cannot scale a rented tool to a growing, India-specific CHA/logistics workflow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3794760"/>
            <a:ext cx="55778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977639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2850"/>
                </a:solidFill>
                <a:latin typeface="Segoe UI Semibold"/>
              </a:rPr>
              <a:t>And five systems we don't have at all: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389120"/>
            <a:ext cx="512064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B04A3A"/>
                </a:solidFill>
                <a:latin typeface="Segoe UI"/>
              </a:rPr>
              <a:t>▪  </a:t>
            </a:r>
            <a:r>
              <a:rPr sz="1250">
                <a:solidFill>
                  <a:srgbClr val="2B2B2B"/>
                </a:solidFill>
                <a:latin typeface="Segoe UI"/>
              </a:rPr>
              <a:t>Proper CRM System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B04A3A"/>
                </a:solidFill>
                <a:latin typeface="Segoe UI"/>
              </a:rPr>
              <a:t>▪  </a:t>
            </a:r>
            <a:r>
              <a:rPr sz="1250">
                <a:solidFill>
                  <a:srgbClr val="2B2B2B"/>
                </a:solidFill>
                <a:latin typeface="Segoe UI"/>
              </a:rPr>
              <a:t>Internal Database Management System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B04A3A"/>
                </a:solidFill>
                <a:latin typeface="Segoe UI"/>
              </a:rPr>
              <a:t>▪  </a:t>
            </a:r>
            <a:r>
              <a:rPr sz="1250">
                <a:solidFill>
                  <a:srgbClr val="2B2B2B"/>
                </a:solidFill>
                <a:latin typeface="Segoe UI"/>
              </a:rPr>
              <a:t>Automated Marketing Tool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B04A3A"/>
                </a:solidFill>
                <a:latin typeface="Segoe UI"/>
              </a:rPr>
              <a:t>▪  </a:t>
            </a:r>
            <a:r>
              <a:rPr sz="1250">
                <a:solidFill>
                  <a:srgbClr val="2B2B2B"/>
                </a:solidFill>
                <a:latin typeface="Segoe UI"/>
              </a:rPr>
              <a:t>AMS (Appraisal Management System)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B04A3A"/>
                </a:solidFill>
                <a:latin typeface="Segoe UI"/>
              </a:rPr>
              <a:t>▪  </a:t>
            </a:r>
            <a:r>
              <a:rPr sz="1250">
                <a:solidFill>
                  <a:srgbClr val="2B2B2B"/>
                </a:solidFill>
                <a:latin typeface="Segoe UI"/>
              </a:rPr>
              <a:t>Customer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F76"/>
                </a:solidFill>
                <a:latin typeface="Segoe UI"/>
              </a:rPr>
              <a:t>Adarsh Shipping &amp; Services — In-House Software Initiative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F76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9A42B"/>
                </a:solidFill>
                <a:latin typeface="Segoe UI"/>
              </a:rPr>
              <a:t>MARKET REALITY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2850"/>
                </a:solidFill>
                <a:latin typeface="Segoe UI Semibold"/>
              </a:rPr>
              <a:t>Buying This Off the Market Costs ₹10–15 Lakhs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822960" cy="38100"/>
          </a:xfrm>
          <a:prstGeom prst="rect">
            <a:avLst/>
          </a:prstGeom>
          <a:solidFill>
            <a:srgbClr val="D9A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5760720" cy="2377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50" b="1">
                <a:solidFill>
                  <a:srgbClr val="D9A42B"/>
                </a:solidFill>
                <a:latin typeface="Segoe UI"/>
              </a:rPr>
              <a:t>▪  </a:t>
            </a:r>
            <a:r>
              <a:rPr sz="1350">
                <a:solidFill>
                  <a:srgbClr val="2B2B2B"/>
                </a:solidFill>
                <a:latin typeface="Segoe UI"/>
              </a:rPr>
              <a:t>Multiple vendor &amp; freelancer quotes were reviewed for full implementation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50" b="1">
                <a:solidFill>
                  <a:srgbClr val="D9A42B"/>
                </a:solidFill>
                <a:latin typeface="Segoe UI"/>
              </a:rPr>
              <a:t>▪  </a:t>
            </a:r>
            <a:r>
              <a:rPr sz="1350">
                <a:solidFill>
                  <a:srgbClr val="2B2B2B"/>
                </a:solidFill>
                <a:latin typeface="Segoe UI"/>
              </a:rPr>
              <a:t>Nearly every option is subscription-based — the meter never stops running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50" b="1">
                <a:solidFill>
                  <a:srgbClr val="D9A42B"/>
                </a:solidFill>
                <a:latin typeface="Segoe UI"/>
              </a:rPr>
              <a:t>▪  </a:t>
            </a:r>
            <a:r>
              <a:rPr sz="1350">
                <a:solidFill>
                  <a:srgbClr val="2B2B2B"/>
                </a:solidFill>
                <a:latin typeface="Segoe UI"/>
              </a:rPr>
              <a:t>Customization is limited; you adapt to their product, not the other way round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50" b="1">
                <a:solidFill>
                  <a:srgbClr val="D9A42B"/>
                </a:solidFill>
                <a:latin typeface="Segoe UI"/>
              </a:rPr>
              <a:t>▪  </a:t>
            </a:r>
            <a:r>
              <a:rPr sz="1350">
                <a:solidFill>
                  <a:srgbClr val="2B2B2B"/>
                </a:solidFill>
                <a:latin typeface="Segoe UI"/>
              </a:rPr>
              <a:t>Annual renewal &amp; support costs increase every single year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350" b="1">
                <a:solidFill>
                  <a:srgbClr val="D9A42B"/>
                </a:solidFill>
                <a:latin typeface="Segoe UI"/>
              </a:rPr>
              <a:t>▪  </a:t>
            </a:r>
            <a:r>
              <a:rPr sz="1350">
                <a:solidFill>
                  <a:srgbClr val="2B2B2B"/>
                </a:solidFill>
                <a:latin typeface="Segoe UI"/>
              </a:rPr>
              <a:t>Even at that price, several requirements still wouldn't be fully met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92240" y="1600200"/>
          <a:ext cx="512064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92240" y="5623560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2F854F"/>
                </a:solidFill>
                <a:latin typeface="Segoe UI"/>
              </a:rPr>
              <a:t>That's a saving of roughly 55% against the low end of the market quote —</a:t>
            </a:r>
          </a:p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2F854F"/>
                </a:solidFill>
                <a:latin typeface="Segoe UI"/>
              </a:rPr>
              <a:t>without locking the company into anyone else's roadmap.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F76"/>
                </a:solidFill>
                <a:latin typeface="Segoe UI"/>
              </a:rPr>
              <a:t>Adarsh Shipping &amp; Services — In-House Software Initiative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F76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9A42B"/>
                </a:solidFill>
                <a:latin typeface="Segoe UI"/>
              </a:rPr>
              <a:t>THE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2850"/>
                </a:solidFill>
                <a:latin typeface="Segoe UI Semibold"/>
              </a:rPr>
              <a:t>Build It Ourselves — On Our Terms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822960" cy="38100"/>
          </a:xfrm>
          <a:prstGeom prst="rect">
            <a:avLst/>
          </a:prstGeom>
          <a:solidFill>
            <a:srgbClr val="D9A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2B2B2B"/>
                </a:solidFill>
                <a:latin typeface="Segoe UI"/>
              </a:rPr>
              <a:t>A standalone, in-house integrated software system, developed specifically around Adarsh Shipping's own workflow — not retrofitted from someone else's template.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331720"/>
            <a:ext cx="333756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2331720"/>
            <a:ext cx="73152" cy="1737360"/>
          </a:xfrm>
          <a:prstGeom prst="rect">
            <a:avLst/>
          </a:prstGeom>
          <a:solidFill>
            <a:srgbClr val="D9A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2514600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42850"/>
                </a:solidFill>
                <a:latin typeface="Segoe UI Semibold"/>
              </a:rPr>
              <a:t>Fully Customized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953512"/>
            <a:ext cx="2880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6F76"/>
                </a:solidFill>
                <a:latin typeface="Segoe UI"/>
              </a:rPr>
              <a:t>Built directly around our workflow, not adapted to fit 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87952" y="2331720"/>
            <a:ext cx="333756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87952" y="2331720"/>
            <a:ext cx="73152" cy="1737360"/>
          </a:xfrm>
          <a:prstGeom prst="rect">
            <a:avLst/>
          </a:prstGeom>
          <a:solidFill>
            <a:srgbClr val="D9A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43984" y="2514600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42850"/>
                </a:solidFill>
                <a:latin typeface="Segoe UI Semibold"/>
              </a:rPr>
              <a:t>No Recurring Lock-In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953512"/>
            <a:ext cx="2880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6F76"/>
                </a:solidFill>
                <a:latin typeface="Segoe UI"/>
              </a:rPr>
              <a:t>One development cost — not a rising annual subscription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81544" y="2331720"/>
            <a:ext cx="333756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81544" y="2331720"/>
            <a:ext cx="73152" cy="1737360"/>
          </a:xfrm>
          <a:prstGeom prst="rect">
            <a:avLst/>
          </a:prstGeom>
          <a:solidFill>
            <a:srgbClr val="D9A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37576" y="2514600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42850"/>
                </a:solidFill>
                <a:latin typeface="Segoe UI Semibold"/>
              </a:rPr>
              <a:t>Full Ownership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37576" y="2953512"/>
            <a:ext cx="2880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6F76"/>
                </a:solidFill>
                <a:latin typeface="Segoe UI"/>
              </a:rPr>
              <a:t>We own the code, the data, and every future decision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325112"/>
            <a:ext cx="333756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4325112"/>
            <a:ext cx="73152" cy="1737360"/>
          </a:xfrm>
          <a:prstGeom prst="rect">
            <a:avLst/>
          </a:prstGeom>
          <a:solidFill>
            <a:srgbClr val="D9A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2" y="4507992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42850"/>
                </a:solidFill>
                <a:latin typeface="Segoe UI Semibold"/>
              </a:rPr>
              <a:t>Built-In Scalability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4946904"/>
            <a:ext cx="2880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6F76"/>
                </a:solidFill>
                <a:latin typeface="Segoe UI"/>
              </a:rPr>
              <a:t>New modules and features added as the business grows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87952" y="4325112"/>
            <a:ext cx="333756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187952" y="4325112"/>
            <a:ext cx="73152" cy="1737360"/>
          </a:xfrm>
          <a:prstGeom prst="rect">
            <a:avLst/>
          </a:prstGeom>
          <a:solidFill>
            <a:srgbClr val="D9A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43984" y="4507992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42850"/>
                </a:solidFill>
                <a:latin typeface="Segoe UI Semibold"/>
              </a:rPr>
              <a:t>Centralized Operations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3984" y="4946904"/>
            <a:ext cx="2880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6F76"/>
                </a:solidFill>
                <a:latin typeface="Segoe UI"/>
              </a:rPr>
              <a:t>One ecosystem instead of four disconnected logins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81544" y="4325112"/>
            <a:ext cx="333756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781544" y="4325112"/>
            <a:ext cx="73152" cy="1737360"/>
          </a:xfrm>
          <a:prstGeom prst="rect">
            <a:avLst/>
          </a:prstGeom>
          <a:solidFill>
            <a:srgbClr val="D9A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37576" y="4507992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42850"/>
                </a:solidFill>
                <a:latin typeface="Segoe UI Semibold"/>
              </a:rPr>
              <a:t>Faster Fixes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37576" y="4946904"/>
            <a:ext cx="2880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6F76"/>
                </a:solidFill>
                <a:latin typeface="Segoe UI"/>
              </a:rPr>
              <a:t>Changes and fixes handled directly — no vendor ticket queue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F76"/>
                </a:solidFill>
                <a:latin typeface="Segoe UI"/>
              </a:rPr>
              <a:t>Adarsh Shipping &amp; Services — In-House Software Initiative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F76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9A42B"/>
                </a:solidFill>
                <a:latin typeface="Segoe UI"/>
              </a:rPr>
              <a:t>SCOPE &amp; INVESTMENT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2850"/>
                </a:solidFill>
                <a:latin typeface="Segoe UI Semibold"/>
              </a:rPr>
              <a:t>What We're Building, Module by Module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822960" cy="38100"/>
          </a:xfrm>
          <a:prstGeom prst="rect">
            <a:avLst/>
          </a:prstGeom>
          <a:solidFill>
            <a:srgbClr val="D9A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554480"/>
          <a:ext cx="6492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Module</a:t>
                      </a:r>
                    </a:p>
                  </a:txBody>
                  <a:tcPr marL="101600" marR="101600" marT="50800" marB="50800" anchor="ctr"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Estimated Cost</a:t>
                      </a:r>
                    </a:p>
                  </a:txBody>
                  <a:tcPr marL="101600" marR="101600" marT="50800" marB="50800" anchor="ctr">
                    <a:solidFill>
                      <a:srgbClr val="1428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B2B"/>
                          </a:solidFill>
                          <a:latin typeface="Segoe UI"/>
                        </a:rPr>
                        <a:t>AMS (Appraisal Management System)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B2B2B"/>
                          </a:solidFill>
                          <a:latin typeface="Segoe UI"/>
                        </a:rPr>
                        <a:t>₹50,000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B2B"/>
                          </a:solidFill>
                          <a:latin typeface="Segoe UI"/>
                        </a:rPr>
                        <a:t>HRMS</a:t>
                      </a:r>
                    </a:p>
                  </a:txBody>
                  <a:tcPr marL="101600" marR="101600" marT="38100" marB="38100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B2B2B"/>
                          </a:solidFill>
                          <a:latin typeface="Segoe UI"/>
                        </a:rPr>
                        <a:t>₹30,000</a:t>
                      </a:r>
                    </a:p>
                  </a:txBody>
                  <a:tcPr marL="101600" marR="101600" marT="38100" marB="38100" anchor="ctr">
                    <a:solidFill>
                      <a:srgbClr val="FA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B2B"/>
                          </a:solidFill>
                          <a:latin typeface="Segoe UI"/>
                        </a:rPr>
                        <a:t>CRM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B2B2B"/>
                          </a:solidFill>
                          <a:latin typeface="Segoe UI"/>
                        </a:rPr>
                        <a:t>₹70,000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B2B"/>
                          </a:solidFill>
                          <a:latin typeface="Segoe UI"/>
                        </a:rPr>
                        <a:t>Sales Management</a:t>
                      </a:r>
                    </a:p>
                  </a:txBody>
                  <a:tcPr marL="101600" marR="101600" marT="38100" marB="38100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B2B2B"/>
                          </a:solidFill>
                          <a:latin typeface="Segoe UI"/>
                        </a:rPr>
                        <a:t>₹50,000</a:t>
                      </a:r>
                    </a:p>
                  </a:txBody>
                  <a:tcPr marL="101600" marR="101600" marT="38100" marB="38100" anchor="ctr">
                    <a:solidFill>
                      <a:srgbClr val="FA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B2B"/>
                          </a:solidFill>
                          <a:latin typeface="Segoe UI"/>
                        </a:rPr>
                        <a:t>Recruitment Management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B2B2B"/>
                          </a:solidFill>
                          <a:latin typeface="Segoe UI"/>
                        </a:rPr>
                        <a:t>₹20,000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B2B"/>
                          </a:solidFill>
                          <a:latin typeface="Segoe UI"/>
                        </a:rPr>
                        <a:t>Basic Marketing Automation</a:t>
                      </a:r>
                    </a:p>
                  </a:txBody>
                  <a:tcPr marL="101600" marR="101600" marT="38100" marB="38100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B2B2B"/>
                          </a:solidFill>
                          <a:latin typeface="Segoe UI"/>
                        </a:rPr>
                        <a:t>₹25,000</a:t>
                      </a:r>
                    </a:p>
                  </a:txBody>
                  <a:tcPr marL="101600" marR="101600" marT="38100" marB="38100" anchor="ctr">
                    <a:solidFill>
                      <a:srgbClr val="FA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B2B"/>
                          </a:solidFill>
                          <a:latin typeface="Segoe UI"/>
                        </a:rPr>
                        <a:t>Customer Portal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B2B2B"/>
                          </a:solidFill>
                          <a:latin typeface="Segoe UI"/>
                        </a:rPr>
                        <a:t>₹10,000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B2B"/>
                          </a:solidFill>
                          <a:latin typeface="Segoe UI"/>
                        </a:rPr>
                        <a:t>Accounts Module (Optional)</a:t>
                      </a:r>
                    </a:p>
                  </a:txBody>
                  <a:tcPr marL="101600" marR="101600" marT="38100" marB="38100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B2B2B"/>
                          </a:solidFill>
                          <a:latin typeface="Segoe UI"/>
                        </a:rPr>
                        <a:t>₹70,000</a:t>
                      </a:r>
                    </a:p>
                  </a:txBody>
                  <a:tcPr marL="101600" marR="101600" marT="38100" marB="38100" anchor="ctr">
                    <a:solidFill>
                      <a:srgbClr val="FA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2385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B2B"/>
                          </a:solidFill>
                          <a:latin typeface="Segoe UI"/>
                        </a:rPr>
                        <a:t>Database Management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B2B2B"/>
                          </a:solidFill>
                          <a:latin typeface="Segoe UI"/>
                        </a:rPr>
                        <a:t>₹20,000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239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B2B"/>
                          </a:solidFill>
                          <a:latin typeface="Segoe UI"/>
                        </a:rPr>
                        <a:t>Daily Blog &amp; Announcement System</a:t>
                      </a:r>
                    </a:p>
                  </a:txBody>
                  <a:tcPr marL="101600" marR="101600" marT="38100" marB="38100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B2B2B"/>
                          </a:solidFill>
                          <a:latin typeface="Segoe UI"/>
                        </a:rPr>
                        <a:t>₹5,000</a:t>
                      </a:r>
                    </a:p>
                  </a:txBody>
                  <a:tcPr marL="101600" marR="101600" marT="38100" marB="38100" anchor="ctr">
                    <a:solidFill>
                      <a:srgbClr val="FA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452360" y="1554480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2850"/>
                </a:solidFill>
                <a:latin typeface="Segoe UI Semibold"/>
              </a:rPr>
              <a:t>Already delivered — not a promise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1965960"/>
            <a:ext cx="4160520" cy="1828800"/>
          </a:xfrm>
          <a:prstGeom prst="roundRect">
            <a:avLst>
              <a:gd name="adj" fmla="val 8000"/>
            </a:avLst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0" y="2148840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D9A42B"/>
                </a:solidFill>
                <a:latin typeface="Segoe UI Semibold"/>
              </a:rPr>
              <a:t>AMS Module — Live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542032"/>
            <a:ext cx="3749039" cy="1143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50" b="1">
                <a:solidFill>
                  <a:srgbClr val="D9A42B"/>
                </a:solidFill>
                <a:latin typeface="Segoe UI"/>
              </a:rPr>
              <a:t>▪  </a:t>
            </a:r>
            <a:r>
              <a:rPr sz="1150">
                <a:solidFill>
                  <a:srgbClr val="E8EAF0"/>
                </a:solidFill>
                <a:latin typeface="Segoe UI"/>
              </a:rPr>
              <a:t>Built and deployed by the developer, unpaid, before any commercial commitment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50" b="1">
                <a:solidFill>
                  <a:srgbClr val="D9A42B"/>
                </a:solidFill>
                <a:latin typeface="Segoe UI"/>
              </a:rPr>
              <a:t>▪  </a:t>
            </a:r>
            <a:r>
              <a:rPr sz="1150">
                <a:solidFill>
                  <a:srgbClr val="E8EAF0"/>
                </a:solidFill>
                <a:latin typeface="Segoe UI"/>
              </a:rPr>
              <a:t>Configured against our own inputs and requirements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50" b="1">
                <a:solidFill>
                  <a:srgbClr val="D9A42B"/>
                </a:solidFill>
                <a:latin typeface="Segoe UI"/>
              </a:rPr>
              <a:t>▪  </a:t>
            </a:r>
            <a:r>
              <a:rPr sz="1150">
                <a:solidFill>
                  <a:srgbClr val="E8EAF0"/>
                </a:solidFill>
                <a:latin typeface="Segoe UI"/>
              </a:rPr>
              <a:t>Live, working access provided to Admin, Management, Employee &amp; Manager roles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977639"/>
            <a:ext cx="416052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B2B2B"/>
                </a:solidFill>
                <a:latin typeface="Segoe UI"/>
              </a:rPr>
              <a:t>This isn't a slide deck promise — it's a working module the team can log into today. The remaining modules follow the same proven build pattern.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F76"/>
                </a:solidFill>
                <a:latin typeface="Segoe UI"/>
              </a:rPr>
              <a:t>Adarsh Shipping &amp; Services — In-House Software Initiative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F76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9A42B"/>
                </a:solidFill>
                <a:latin typeface="Segoe UI"/>
              </a:rPr>
              <a:t>COMMERCIAL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2850"/>
                </a:solidFill>
                <a:latin typeface="Segoe UI Semibold"/>
              </a:rPr>
              <a:t>Simple, Transparent Commercial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822960" cy="38100"/>
          </a:xfrm>
          <a:prstGeom prst="rect">
            <a:avLst/>
          </a:prstGeom>
          <a:solidFill>
            <a:srgbClr val="D9A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645920"/>
            <a:ext cx="521208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2850"/>
                </a:solidFill>
                <a:latin typeface="Segoe UI Semibold"/>
              </a:rPr>
              <a:t>Development Period &amp; Compensation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B2B2B"/>
                </a:solidFill>
                <a:latin typeface="Segoe UI"/>
              </a:rPr>
              <a:t>Estimated Timeline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40" y="233172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142850"/>
                </a:solidFill>
                <a:latin typeface="Segoe UI"/>
              </a:rPr>
              <a:t>6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7063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B2B2B"/>
                </a:solidFill>
                <a:latin typeface="Segoe UI"/>
              </a:rPr>
              <a:t>Monthly Development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40" y="277063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142850"/>
                </a:solidFill>
                <a:latin typeface="Segoe UI"/>
              </a:rPr>
              <a:t>₹35,000 /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09544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B2B2B"/>
                </a:solidFill>
                <a:latin typeface="Segoe UI"/>
              </a:rPr>
              <a:t>Total Development Support (6 mo.)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40" y="3209544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142850"/>
                </a:solidFill>
                <a:latin typeface="Segoe UI"/>
              </a:rPr>
              <a:t>₹2,10,000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648456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B2B2B"/>
                </a:solidFill>
                <a:latin typeface="Segoe UI"/>
              </a:rPr>
              <a:t>One-Time Development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40" y="3648456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142850"/>
                </a:solidFill>
                <a:latin typeface="Segoe UI"/>
              </a:rPr>
              <a:t>₹3,50,000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87368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B2B2B"/>
                </a:solidFill>
                <a:latin typeface="Segoe UI"/>
              </a:rPr>
              <a:t>Tool &amp; Hosting of Software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40" y="408736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142850"/>
                </a:solidFill>
                <a:latin typeface="Segoe UI"/>
              </a:rPr>
              <a:t>Billed at actuals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4572000"/>
            <a:ext cx="4480560" cy="15875"/>
          </a:xfrm>
          <a:prstGeom prst="rect">
            <a:avLst/>
          </a:prstGeom>
          <a:solidFill>
            <a:srgbClr val="DDD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75488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2850"/>
                </a:solidFill>
                <a:latin typeface="Segoe UI Semibold"/>
              </a:rPr>
              <a:t>TOTAL PROJECT 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4690872"/>
            <a:ext cx="2423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i="0" dirty="0">
                <a:solidFill>
                  <a:srgbClr val="D9A42B"/>
                </a:solidFill>
                <a:latin typeface="Segoe UI Semibold"/>
              </a:rPr>
              <a:t>₹5,60,000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1645920"/>
            <a:ext cx="546811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18288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2850"/>
                </a:solidFill>
                <a:latin typeface="Segoe UI Semibold"/>
              </a:rPr>
              <a:t>Additional Services (as needed)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400800" y="2286000"/>
          <a:ext cx="493776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Segoe UI Semibold"/>
                        </a:rPr>
                        <a:t>Service</a:t>
                      </a:r>
                    </a:p>
                  </a:txBody>
                  <a:tcPr marL="101600" marR="101600" marT="50800" marB="50800" anchor="ctr"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Segoe UI Semibold"/>
                        </a:rPr>
                        <a:t>Cost</a:t>
                      </a:r>
                    </a:p>
                  </a:txBody>
                  <a:tcPr marL="101600" marR="101600" marT="50800" marB="50800" anchor="ctr">
                    <a:solidFill>
                      <a:srgbClr val="1428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B2B"/>
                          </a:solidFill>
                          <a:latin typeface="Segoe UI"/>
                        </a:rPr>
                        <a:t>Website Restructuring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B2B2B"/>
                          </a:solidFill>
                          <a:latin typeface="Segoe UI"/>
                        </a:rPr>
                        <a:t>₹35,000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B2B"/>
                          </a:solidFill>
                          <a:latin typeface="Segoe UI"/>
                        </a:rPr>
                        <a:t>Annual AMC / AMS Support</a:t>
                      </a:r>
                    </a:p>
                  </a:txBody>
                  <a:tcPr marL="101600" marR="101600" marT="38100" marB="38100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B2B2B"/>
                          </a:solidFill>
                          <a:latin typeface="Segoe UI"/>
                        </a:rPr>
                        <a:t>₹25,000 / yr</a:t>
                      </a:r>
                    </a:p>
                  </a:txBody>
                  <a:tcPr marL="101600" marR="101600" marT="38100" marB="38100" anchor="ctr">
                    <a:solidFill>
                      <a:srgbClr val="FA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B2B"/>
                          </a:solidFill>
                          <a:latin typeface="Segoe UI"/>
                        </a:rPr>
                        <a:t>Server Mgmt. &amp; Maintenance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B2B2B"/>
                          </a:solidFill>
                          <a:latin typeface="Segoe UI"/>
                        </a:rPr>
                        <a:t>₹20,000 / yr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B2B"/>
                          </a:solidFill>
                          <a:latin typeface="Segoe UI"/>
                        </a:rPr>
                        <a:t>Mobile Software Development</a:t>
                      </a:r>
                    </a:p>
                  </a:txBody>
                  <a:tcPr marL="101600" marR="101600" marT="38100" marB="38100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B2B2B"/>
                          </a:solidFill>
                          <a:latin typeface="Segoe UI"/>
                        </a:rPr>
                        <a:t>₹50,000</a:t>
                      </a:r>
                    </a:p>
                  </a:txBody>
                  <a:tcPr marL="101600" marR="101600" marT="38100" marB="38100" anchor="ctr">
                    <a:solidFill>
                      <a:srgbClr val="FA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400800" y="5074920"/>
            <a:ext cx="48463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1">
                <a:solidFill>
                  <a:srgbClr val="6B6F76"/>
                </a:solidFill>
                <a:latin typeface="Segoe UI"/>
              </a:rPr>
              <a:t>For comparison: Zoho People + Zoho Payroll alone typically run well into six figures annually at our headcount — before CRM, marketing, or a customer portal are even in scope.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F76"/>
                </a:solidFill>
                <a:latin typeface="Segoe UI"/>
              </a:rPr>
              <a:t>Adarsh Shipping &amp; Services — In-House Software Initiative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F76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9A42B"/>
                </a:solidFill>
                <a:latin typeface="Segoe UI"/>
              </a:rPr>
              <a:t>RETURN ON INVESTMENT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2850"/>
                </a:solidFill>
                <a:latin typeface="Segoe UI Semibold"/>
              </a:rPr>
              <a:t>The Cost Gap Widens Every Year We Wait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822960" cy="38100"/>
          </a:xfrm>
          <a:prstGeom prst="rect">
            <a:avLst/>
          </a:prstGeom>
          <a:solidFill>
            <a:srgbClr val="D9A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" y="1600200"/>
          <a:ext cx="667512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543800" y="160020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1">
                <a:solidFill>
                  <a:srgbClr val="6B6F76"/>
                </a:solidFill>
                <a:latin typeface="Segoe UI"/>
              </a:rPr>
              <a:t>Illustrative, based on typical</a:t>
            </a:r>
          </a:p>
          <a:p>
            <a:pPr algn="l">
              <a:lnSpc>
                <a:spcPct val="120000"/>
              </a:lnSpc>
            </a:pPr>
            <a:r>
              <a:rPr sz="1050" b="0" i="1">
                <a:solidFill>
                  <a:srgbClr val="6B6F76"/>
                </a:solidFill>
                <a:latin typeface="Segoe UI"/>
              </a:rPr>
              <a:t>subscription-tier trajectories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2377440"/>
            <a:ext cx="19202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0" y="2487168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42850"/>
                </a:solidFill>
                <a:latin typeface="Segoe UI Semibold"/>
              </a:rPr>
              <a:t>Yr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410712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B6F76"/>
                </a:solidFill>
                <a:latin typeface="Segoe UI"/>
              </a:rPr>
              <a:t>In-house is the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B6F76"/>
                </a:solidFill>
                <a:latin typeface="Segoe UI"/>
              </a:rPr>
              <a:t>higher upfront cost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0" y="2377440"/>
            <a:ext cx="19659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738360" y="2487168"/>
            <a:ext cx="1691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D9A42B"/>
                </a:solidFill>
                <a:latin typeface="Segoe UI Semibold"/>
              </a:rPr>
              <a:t>Yr 2+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3410712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B6F76"/>
                </a:solidFill>
                <a:latin typeface="Segoe UI"/>
              </a:rPr>
              <a:t>Subscriptions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B6F76"/>
                </a:solidFill>
                <a:latin typeface="Segoe UI"/>
              </a:rPr>
              <a:t>overtake 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3977639"/>
            <a:ext cx="40233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80960" y="4087367"/>
            <a:ext cx="3749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2F854F"/>
                </a:solidFill>
                <a:latin typeface="Segoe UI Semibold"/>
              </a:rPr>
              <a:t>By Year 5, ~₹2.6L saved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5010911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B6F76"/>
                </a:solidFill>
                <a:latin typeface="Segoe UI"/>
              </a:rPr>
              <a:t>and the difference keeps compounding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B6F76"/>
                </a:solidFill>
                <a:latin typeface="Segoe UI"/>
              </a:rPr>
              <a:t>every renewal cycle after that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F76"/>
                </a:solidFill>
                <a:latin typeface="Segoe UI"/>
              </a:rPr>
              <a:t>Adarsh Shipping &amp; Services — In-House Software Initiative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F76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9A42B"/>
                </a:solidFill>
                <a:latin typeface="Segoe UI"/>
              </a:rPr>
              <a:t>HEAD-TO-HEAD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2850"/>
                </a:solidFill>
                <a:latin typeface="Segoe UI Semibold"/>
              </a:rPr>
              <a:t>In-House vs. Market Vendor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822960" cy="38100"/>
          </a:xfrm>
          <a:prstGeom prst="rect">
            <a:avLst/>
          </a:prstGeom>
          <a:solidFill>
            <a:srgbClr val="D9A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600200"/>
          <a:ext cx="10972799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 Semibold"/>
                        </a:rPr>
                        <a:t>Factor</a:t>
                      </a:r>
                    </a:p>
                  </a:txBody>
                  <a:tcPr marL="101600" marR="101600" marT="50800" marB="50800" anchor="ctr"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 Semibold"/>
                        </a:rPr>
                        <a:t>Market Vendor / SaaS</a:t>
                      </a:r>
                    </a:p>
                  </a:txBody>
                  <a:tcPr marL="101600" marR="101600" marT="50800" marB="50800" anchor="ctr"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Segoe UI Semibold"/>
                        </a:rPr>
                        <a:t>Adarsh In-House Build</a:t>
                      </a:r>
                    </a:p>
                  </a:txBody>
                  <a:tcPr marL="101600" marR="101600" marT="50800" marB="50800" anchor="ctr">
                    <a:solidFill>
                      <a:srgbClr val="1428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Segoe UI"/>
                        </a:rPr>
                        <a:t>Upfront cost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Segoe UI"/>
                        </a:rPr>
                        <a:t>₹10L – ₹15L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B2B2B"/>
                          </a:solidFill>
                          <a:latin typeface="Segoe UI"/>
                        </a:rPr>
                        <a:t>₹5.6L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Segoe UI"/>
                        </a:rPr>
                        <a:t>Ongoing cost</a:t>
                      </a:r>
                    </a:p>
                  </a:txBody>
                  <a:tcPr marL="101600" marR="101600" marT="38100" marB="38100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Segoe UI"/>
                        </a:rPr>
                        <a:t>Rising subscription, forever</a:t>
                      </a:r>
                    </a:p>
                  </a:txBody>
                  <a:tcPr marL="101600" marR="101600" marT="38100" marB="38100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B2B2B"/>
                          </a:solidFill>
                          <a:latin typeface="Segoe UI"/>
                        </a:rPr>
                        <a:t>₹45K/yr AMC + hosting only</a:t>
                      </a:r>
                    </a:p>
                  </a:txBody>
                  <a:tcPr marL="101600" marR="101600" marT="38100" marB="38100" anchor="ctr">
                    <a:solidFill>
                      <a:srgbClr val="FA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Segoe UI"/>
                        </a:rPr>
                        <a:t>Customization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Segoe UI"/>
                        </a:rPr>
                        <a:t>Limited to vendor's roadmap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Segoe UI"/>
                        </a:rPr>
                        <a:t>Built exactly to our workflow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Segoe UI"/>
                        </a:rPr>
                        <a:t>Data ownership</a:t>
                      </a:r>
                    </a:p>
                  </a:txBody>
                  <a:tcPr marL="101600" marR="101600" marT="38100" marB="38100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Segoe UI"/>
                        </a:rPr>
                        <a:t>Held on vendor's platform</a:t>
                      </a:r>
                    </a:p>
                  </a:txBody>
                  <a:tcPr marL="101600" marR="101600" marT="38100" marB="38100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Segoe UI"/>
                        </a:rPr>
                        <a:t>Fully owned by us</a:t>
                      </a:r>
                    </a:p>
                  </a:txBody>
                  <a:tcPr marL="101600" marR="101600" marT="38100" marB="38100" anchor="ctr">
                    <a:solidFill>
                      <a:srgbClr val="FA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Segoe UI"/>
                        </a:rPr>
                        <a:t>Integration across modules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Segoe UI"/>
                        </a:rPr>
                        <a:t>Manual, often impossible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Segoe UI"/>
                        </a:rPr>
                        <a:t>Native — one database, one login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Segoe UI"/>
                        </a:rPr>
                        <a:t>Change requests</a:t>
                      </a:r>
                    </a:p>
                  </a:txBody>
                  <a:tcPr marL="101600" marR="101600" marT="38100" marB="38100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Segoe UI"/>
                        </a:rPr>
                        <a:t>Vendor ticket queue, delays</a:t>
                      </a:r>
                    </a:p>
                  </a:txBody>
                  <a:tcPr marL="101600" marR="101600" marT="38100" marB="38100" anchor="ctr"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Segoe UI"/>
                        </a:rPr>
                        <a:t>Direct, fast turnaround</a:t>
                      </a:r>
                    </a:p>
                  </a:txBody>
                  <a:tcPr marL="101600" marR="101600" marT="38100" marB="38100" anchor="ctr">
                    <a:solidFill>
                      <a:srgbClr val="FA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Segoe UI"/>
                        </a:rPr>
                        <a:t>Scalability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Segoe UI"/>
                        </a:rPr>
                        <a:t>Constrained by license tiers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B2B2B"/>
                          </a:solidFill>
                          <a:latin typeface="Segoe UI"/>
                        </a:rPr>
                        <a:t>Extended anytime, in-house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F76"/>
                </a:solidFill>
                <a:latin typeface="Segoe UI"/>
              </a:rPr>
              <a:t>Adarsh Shipping &amp; Services — In-House Software Initiative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F76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8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9A42B"/>
                </a:solidFill>
                <a:latin typeface="Segoe UI"/>
              </a:rPr>
              <a:t>THE BIGGER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What This Really Buys the Business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508760"/>
            <a:ext cx="822960" cy="38100"/>
          </a:xfrm>
          <a:prstGeom prst="rect">
            <a:avLst/>
          </a:prstGeom>
          <a:solidFill>
            <a:srgbClr val="D9A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965960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2A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148840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D9A42B"/>
                </a:solidFill>
                <a:latin typeface="Segoe UI Semibold"/>
              </a:rPr>
              <a:t>₹1.5L–₹2L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D8DEE8"/>
                </a:solidFill>
                <a:latin typeface="Segoe UI"/>
              </a:rPr>
              <a:t>Estimated annual subscription savings, every year, going forward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965960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2A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37560" y="2148840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D9A42B"/>
                </a:solidFill>
                <a:latin typeface="Segoe UI Semibold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83464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D8DEE8"/>
                </a:solidFill>
                <a:latin typeface="Segoe UI"/>
              </a:rPr>
              <a:t>Data and code ownership — nothing rented, nothing at a vendor's mercy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965960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2A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80760" y="2148840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D9A42B"/>
                </a:solidFill>
                <a:latin typeface="Segoe UI Semibold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83464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D8DEE8"/>
                </a:solidFill>
                <a:latin typeface="Segoe UI"/>
              </a:rPr>
              <a:t>Single ecosystem replacing four disconnected tools and manual sheets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965960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2A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23960" y="2148840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D9A42B"/>
                </a:solidFill>
                <a:latin typeface="Segoe UI Semibold"/>
              </a:rPr>
              <a:t>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83464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D8DEE8"/>
                </a:solidFill>
                <a:latin typeface="Segoe UI"/>
              </a:rPr>
              <a:t>Ability to extend the platform indefinitely as the business grows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977639"/>
            <a:ext cx="1069848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D9A42B"/>
                </a:solidFill>
                <a:latin typeface="Segoe UI"/>
              </a:rPr>
              <a:t>▪  </a:t>
            </a:r>
            <a:r>
              <a:rPr sz="1350">
                <a:solidFill>
                  <a:srgbClr val="E8EAF0"/>
                </a:solidFill>
                <a:latin typeface="Segoe UI"/>
              </a:rPr>
              <a:t>Better workflow integration across HR, sales, finance and customer-facing teams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D9A42B"/>
                </a:solidFill>
                <a:latin typeface="Segoe UI"/>
              </a:rPr>
              <a:t>▪  </a:t>
            </a:r>
            <a:r>
              <a:rPr sz="1350">
                <a:solidFill>
                  <a:srgbClr val="E8EAF0"/>
                </a:solidFill>
                <a:latin typeface="Segoe UI"/>
              </a:rPr>
              <a:t>Improved efficiency and reporting — one source of truth instead of scattered sheets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D9A42B"/>
                </a:solidFill>
                <a:latin typeface="Segoe UI"/>
              </a:rPr>
              <a:t>▪  </a:t>
            </a:r>
            <a:r>
              <a:rPr sz="1350">
                <a:solidFill>
                  <a:srgbClr val="E8EAF0"/>
                </a:solidFill>
                <a:latin typeface="Segoe UI"/>
              </a:rPr>
              <a:t>Faster issue resolution and modifications, without waiting on a vendor's release cycle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350" b="1">
                <a:solidFill>
                  <a:srgbClr val="D9A42B"/>
                </a:solidFill>
                <a:latin typeface="Segoe UI"/>
              </a:rPr>
              <a:t>▪  </a:t>
            </a:r>
            <a:r>
              <a:rPr sz="1350">
                <a:solidFill>
                  <a:srgbClr val="E8EAF0"/>
                </a:solidFill>
                <a:latin typeface="Segoe UI"/>
              </a:rPr>
              <a:t>Better internal control over company data, access, and system behavior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F76"/>
                </a:solidFill>
                <a:latin typeface="Segoe UI"/>
              </a:rPr>
              <a:t>Adarsh Shipping &amp; Services — In-House Software Initiative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F76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4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 Semibold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2B2B2B"/>
                </a:solidFill>
                <a:latin typeface="Segoe UI"/>
              </a:rPr>
              <a:t>We're asking Management to approve the in-house build over a market vendor — at roughly half the cost, with full ownership, and a module already live to prove the approach works.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69748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" y="2926080"/>
            <a:ext cx="502920" cy="502920"/>
          </a:xfrm>
          <a:prstGeom prst="ellipse">
            <a:avLst/>
          </a:prstGeom>
          <a:solidFill>
            <a:srgbClr val="D9A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142850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1188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2850"/>
                </a:solidFill>
                <a:latin typeface="Segoe UI Semibold"/>
              </a:rPr>
              <a:t>Approve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23360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F76"/>
                </a:solidFill>
                <a:latin typeface="Segoe UI"/>
              </a:rPr>
              <a:t>Confirm the module list — Accounts module is optional and can be phased 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69748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26280" y="2926080"/>
            <a:ext cx="502920" cy="502920"/>
          </a:xfrm>
          <a:prstGeom prst="ellipse">
            <a:avLst/>
          </a:prstGeom>
          <a:solidFill>
            <a:srgbClr val="D9A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142850"/>
                </a:solidFill>
                <a:latin typeface="Segoe UI Semi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61188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2850"/>
                </a:solidFill>
                <a:latin typeface="Segoe UI Semibold"/>
              </a:rPr>
              <a:t>Approve Budget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4023360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F76"/>
                </a:solidFill>
                <a:latin typeface="Segoe UI"/>
              </a:rPr>
              <a:t>₹5,60,000 total over a 6-month build, against a ₹10L–15L market alternative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269748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29600" y="2926080"/>
            <a:ext cx="502920" cy="502920"/>
          </a:xfrm>
          <a:prstGeom prst="ellipse">
            <a:avLst/>
          </a:prstGeom>
          <a:solidFill>
            <a:srgbClr val="D9A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142850"/>
                </a:solidFill>
                <a:latin typeface="Segoe UI Semibold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61188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2850"/>
                </a:solidFill>
                <a:latin typeface="Segoe UI Semibold"/>
              </a:rPr>
              <a:t>Kick Off 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023360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F76"/>
                </a:solidFill>
                <a:latin typeface="Segoe UI"/>
              </a:rPr>
              <a:t>Development continues on the proven modules already demonstrated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34924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6B6F76"/>
                </a:solidFill>
                <a:latin typeface="Segoe UI"/>
              </a:rPr>
              <a:t>Live AMS demo available for Management review on request.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9436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B2B2B"/>
                </a:solidFill>
                <a:latin typeface="Segoe UI"/>
              </a:rPr>
              <a:t>Thanks &amp; Regards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2850"/>
                </a:solidFill>
                <a:latin typeface="Segoe UI"/>
              </a:rPr>
              <a:t>HR Department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6F76"/>
                </a:solidFill>
                <a:latin typeface="Segoe UI"/>
              </a:rPr>
              <a:t>Adarsh Shipping &amp; Services — In-House Software Initiative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6F76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1101</Words>
  <Application>Microsoft Office PowerPoint</Application>
  <PresentationFormat>Widescreen</PresentationFormat>
  <Paragraphs>200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Hairprasad V</cp:lastModifiedBy>
  <cp:revision>2</cp:revision>
  <dcterms:created xsi:type="dcterms:W3CDTF">2013-01-27T09:14:16Z</dcterms:created>
  <dcterms:modified xsi:type="dcterms:W3CDTF">2026-08-20T11:11:08Z</dcterms:modified>
  <cp:category/>
</cp:coreProperties>
</file>